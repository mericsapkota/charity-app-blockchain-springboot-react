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</p:sldIdLst>
  <p:sldSz cx="14630400" cy="8229600"/>
  <p:notesSz cx="8229600" cy="14630400"/>
  <p:embeddedFontLst>
    <p:embeddedFont>
      <p:font typeface="Inter Medium" panose="020B0604020202020204" charset="0"/>
      <p:regular r:id="rId13"/>
      <p:italic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Wingdings 3" panose="05040102010807070707" pitchFamily="18" charset="2"/>
      <p:regular r:id="rId23"/>
    </p:embeddedFont>
    <p:embeddedFont>
      <p:font typeface="Arial Rounded MT Bold" panose="020F0704030504030204" pitchFamily="34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092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044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2519679"/>
            <a:ext cx="10590790" cy="3213178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2190781" y="2150669"/>
            <a:ext cx="1188719" cy="3657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10742372" y="3873399"/>
            <a:ext cx="4631754" cy="36576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423049" y="354876"/>
            <a:ext cx="1005839" cy="92122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426983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945" y="3124200"/>
            <a:ext cx="10590791" cy="40995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79156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213174"/>
            <a:ext cx="5221230" cy="2740589"/>
          </a:xfrm>
        </p:spPr>
        <p:txBody>
          <a:bodyPr anchor="ctr"/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671" y="3213173"/>
            <a:ext cx="4509054" cy="2740589"/>
          </a:xfrm>
        </p:spPr>
        <p:txBody>
          <a:bodyPr anchor="ctr"/>
          <a:lstStyle>
            <a:lvl1pPr marL="0" indent="0" algn="l">
              <a:buNone/>
              <a:defRPr sz="24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02790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5945" y="3124201"/>
            <a:ext cx="5790190" cy="409956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50455" y="3124200"/>
            <a:ext cx="5790191" cy="40995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082933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3124200"/>
            <a:ext cx="579018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945" y="3815715"/>
            <a:ext cx="5790190" cy="3408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50455" y="3124200"/>
            <a:ext cx="579019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50455" y="3815715"/>
            <a:ext cx="5790191" cy="3408047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660018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13696" cy="84835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762871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565891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6" y="1554480"/>
            <a:ext cx="3351790" cy="192024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7375" y="1737360"/>
            <a:ext cx="6228079" cy="54864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385945" y="3755137"/>
            <a:ext cx="3351790" cy="3474719"/>
          </a:xfrm>
        </p:spPr>
        <p:txBody>
          <a:bodyPr/>
          <a:lstStyle>
            <a:lvl1pPr marL="0" indent="0">
              <a:buNone/>
              <a:defRPr sz="168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53451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6" y="2032000"/>
            <a:ext cx="4638161" cy="208280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57444" y="1371600"/>
            <a:ext cx="3872632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385945" y="4389120"/>
            <a:ext cx="4631054" cy="1645920"/>
          </a:xfrm>
        </p:spPr>
        <p:txBody>
          <a:bodyPr>
            <a:normAutofit/>
          </a:bodyPr>
          <a:lstStyle>
            <a:lvl1pPr marL="0" indent="0">
              <a:buNone/>
              <a:defRPr sz="168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622187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5963912"/>
            <a:ext cx="10590791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5" y="822960"/>
            <a:ext cx="10590791" cy="4114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6643998"/>
            <a:ext cx="10590790" cy="592454"/>
          </a:xfrm>
        </p:spPr>
        <p:txBody>
          <a:bodyPr>
            <a:normAutofit/>
          </a:bodyPr>
          <a:lstStyle>
            <a:lvl1pPr marL="0" indent="0">
              <a:buNone/>
              <a:defRPr sz="144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738950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8558" y="1276101"/>
            <a:ext cx="10598179" cy="164758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251960"/>
            <a:ext cx="10590791" cy="297180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135386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1057879" y="728803"/>
            <a:ext cx="962294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11861350" y="3136545"/>
            <a:ext cx="783316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8254" y="1178561"/>
            <a:ext cx="10144687" cy="3235958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2335135" y="4414519"/>
            <a:ext cx="9277463" cy="41060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6" y="6035040"/>
            <a:ext cx="11093876" cy="1197428"/>
          </a:xfrm>
        </p:spPr>
        <p:txBody>
          <a:bodyPr anchor="ctr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156005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2844800"/>
            <a:ext cx="10590792" cy="218701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6029960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856700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>
            <a:lvl1pPr>
              <a:defRPr sz="43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3124203"/>
            <a:ext cx="3770254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85944" y="3815717"/>
            <a:ext cx="3770255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266" y="3124200"/>
            <a:ext cx="377641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415266" y="3815716"/>
            <a:ext cx="3776411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465762" y="3124201"/>
            <a:ext cx="377487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9465995" y="3815715"/>
            <a:ext cx="3774643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284765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326881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55537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>
            <a:lvl1pPr>
              <a:defRPr sz="43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439413"/>
            <a:ext cx="366052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601464" y="3124200"/>
            <a:ext cx="3229490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85945" y="6130927"/>
            <a:ext cx="3660526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2638" y="5439413"/>
            <a:ext cx="3660526" cy="691516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698155" y="3124200"/>
            <a:ext cx="3229492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484206" y="6130926"/>
            <a:ext cx="3660526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79331" y="5439414"/>
            <a:ext cx="3661314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795637" y="3124200"/>
            <a:ext cx="3229490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79330" y="6130925"/>
            <a:ext cx="3661315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5286997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9357362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73333" y="7670206"/>
            <a:ext cx="4373138" cy="36576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21074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45" y="3124200"/>
            <a:ext cx="10590791" cy="409956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834527" y="7670206"/>
            <a:ext cx="1188719" cy="36575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089294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2283" y="1534160"/>
            <a:ext cx="1691958" cy="5698308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45" y="1534160"/>
            <a:ext cx="7507230" cy="569830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783725" y="7670206"/>
            <a:ext cx="1190562" cy="36575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434281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714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2025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712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55483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57365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3430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5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385945" y="1168402"/>
            <a:ext cx="10513696" cy="8483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3124200"/>
            <a:ext cx="10513696" cy="4099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83725" y="7670206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3333" y="7670206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704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hf hdr="0" dt="0"/>
  <p:txStyles>
    <p:titleStyle>
      <a:lvl1pPr algn="l" defTabSz="548640" rtl="0" eaLnBrk="1" latinLnBrk="0" hangingPunct="1">
        <a:spcBef>
          <a:spcPct val="0"/>
        </a:spcBef>
        <a:buNone/>
        <a:defRPr sz="432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52086"/>
            <a:ext cx="130428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smtClean="0">
                <a:solidFill>
                  <a:srgbClr val="030303"/>
                </a:solidFill>
                <a:latin typeface="Arial Rounded MT Bold" panose="020F0704030504030204" pitchFamily="34" charset="0"/>
                <a:ea typeface="DM Sans Semi Bold" pitchFamily="34" charset="-122"/>
                <a:cs typeface="DM Sans Semi Bold" pitchFamily="34" charset="-120"/>
              </a:rPr>
              <a:t>HealthChain</a:t>
            </a:r>
            <a:r>
              <a:rPr lang="en-US" sz="4450" dirty="0" smtClean="0">
                <a:solidFill>
                  <a:srgbClr val="030303"/>
                </a:solidFill>
                <a:latin typeface="Arial Rounded MT Bold" panose="020F0704030504030204" pitchFamily="34" charset="0"/>
                <a:ea typeface="DM Sans Semi Bold" pitchFamily="34" charset="-122"/>
                <a:cs typeface="DM Sans Semi Bold" pitchFamily="34" charset="-120"/>
              </a:rPr>
              <a:t>: Charity Web app using </a:t>
            </a:r>
            <a:r>
              <a:rPr lang="en-US" sz="4450" dirty="0" err="1" smtClean="0">
                <a:solidFill>
                  <a:srgbClr val="030303"/>
                </a:solidFill>
                <a:latin typeface="Arial Rounded MT Bold" panose="020F0704030504030204" pitchFamily="34" charset="0"/>
                <a:ea typeface="DM Sans Semi Bold" pitchFamily="34" charset="-122"/>
                <a:cs typeface="DM Sans Semi Bold" pitchFamily="34" charset="-120"/>
              </a:rPr>
              <a:t>blockchain</a:t>
            </a:r>
            <a:endParaRPr lang="en-US" sz="4450" dirty="0">
              <a:latin typeface="Arial Rounded MT Bold" panose="020F07040305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Presented by: </a:t>
            </a:r>
            <a:r>
              <a:rPr lang="en-US" sz="1750" dirty="0" err="1" smtClean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Meric</a:t>
            </a:r>
            <a:r>
              <a:rPr lang="en-US" sz="1750" dirty="0" smtClean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 </a:t>
            </a:r>
            <a:r>
              <a:rPr lang="en-US" sz="1750" dirty="0" err="1" smtClean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Sapkota</a:t>
            </a:r>
            <a:r>
              <a:rPr lang="en-US" sz="1750" dirty="0" smtClean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, </a:t>
            </a:r>
            <a:r>
              <a:rPr lang="en-US" sz="1750" dirty="0" err="1" smtClean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Sujan</a:t>
            </a:r>
            <a:r>
              <a:rPr lang="en-US" sz="1750" dirty="0" smtClean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 </a:t>
            </a:r>
            <a:r>
              <a:rPr lang="en-US" sz="1750" dirty="0" err="1" smtClean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Thapa</a:t>
            </a:r>
            <a:r>
              <a:rPr lang="en-US" sz="1750" dirty="0" smtClean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 Magar, </a:t>
            </a:r>
            <a:r>
              <a:rPr lang="en-US" sz="1750" dirty="0" err="1" smtClean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Utsav</a:t>
            </a:r>
            <a:r>
              <a:rPr lang="en-US" sz="1750" dirty="0" smtClean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 </a:t>
            </a:r>
            <a:r>
              <a:rPr lang="en-US" sz="1750" dirty="0" err="1" smtClean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Satyal</a:t>
            </a:r>
            <a:r>
              <a:rPr lang="en-US" sz="1750" dirty="0" smtClean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, Sapun </a:t>
            </a:r>
            <a:r>
              <a:rPr lang="en-US" sz="1750" dirty="0" err="1" smtClean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Meher</a:t>
            </a:r>
            <a:r>
              <a:rPr lang="en-US" sz="1750" dirty="0" smtClean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 Shrestha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FA407A-366A-78A3-5875-5D5FDCCA2A05}"/>
              </a:ext>
            </a:extLst>
          </p:cNvPr>
          <p:cNvSpPr/>
          <p:nvPr/>
        </p:nvSpPr>
        <p:spPr>
          <a:xfrm>
            <a:off x="11340366" y="7776506"/>
            <a:ext cx="3278459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28794"/>
            <a:ext cx="981194" cy="317778"/>
          </a:xfrm>
          <a:prstGeom prst="roundRect">
            <a:avLst>
              <a:gd name="adj" fmla="val 6852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902613" y="883206"/>
            <a:ext cx="76354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OVERVIEW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89" y="1204555"/>
            <a:ext cx="6873835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50"/>
              </a:lnSpc>
            </a:pPr>
            <a:r>
              <a:rPr lang="en-US" sz="3200" dirty="0" smtClean="0"/>
              <a:t>Introduction &amp; </a:t>
            </a:r>
            <a:r>
              <a:rPr lang="en-US" sz="3200" dirty="0"/>
              <a:t>Problem Statement</a:t>
            </a:r>
            <a:endParaRPr lang="en-US" sz="2850" dirty="0">
              <a:latin typeface="Arial Rounded MT Bold" panose="020F07040305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252787"/>
            <a:ext cx="4277201" cy="156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HealthChain is 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blockchain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-based charity platform for healthcare support in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Nepal. It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connects donors, patients, hospitals, and NGOs in a transparent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ecosystem. All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donations are recorded on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blockchain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for trust and accountability.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93790" y="6360438"/>
            <a:ext cx="6448782" cy="1040368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98101" y="656474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lack transparency.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98101" y="6935272"/>
            <a:ext cx="604016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Traditional charity systems are centralized and lack transparency.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387709" y="6360438"/>
            <a:ext cx="6448901" cy="1040368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92020" y="656474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Risk of fund misuse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592020" y="6935272"/>
            <a:ext cx="604027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400" dirty="0"/>
              <a:t>Risk of fund misuse, data manipulation, and fraud.</a:t>
            </a:r>
            <a:endParaRPr lang="en-US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B0956C-16F4-4FF5-8EF8-02C40FA23DE0}"/>
              </a:ext>
            </a:extLst>
          </p:cNvPr>
          <p:cNvSpPr/>
          <p:nvPr/>
        </p:nvSpPr>
        <p:spPr>
          <a:xfrm>
            <a:off x="11340366" y="7776506"/>
            <a:ext cx="3278459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395" y="2117039"/>
            <a:ext cx="7157215" cy="34732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77077"/>
            <a:ext cx="1327428" cy="426244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445062"/>
            <a:ext cx="105525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OUR GOALS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894046"/>
            <a:ext cx="771158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Existing System vs Proposed System</a:t>
            </a:r>
            <a:endParaRPr lang="en-US" sz="35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2831605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8844" y="3083274"/>
            <a:ext cx="2879884" cy="435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Existing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084" y="3548896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Centralized, low transparency, limited traceability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Manual verification and reporting</a:t>
            </a:r>
            <a:r>
              <a:rPr lang="en-US" sz="16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Higher risk of fraud.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7192" y="3412808"/>
            <a:ext cx="4196358" cy="2713911"/>
          </a:xfrm>
          <a:prstGeom prst="roundRect">
            <a:avLst>
              <a:gd name="adj" fmla="val 162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91873" y="34937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Proposed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64486" y="4010264"/>
            <a:ext cx="3681770" cy="183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Decentralized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blockchain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-based system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Real-time tracking via </a:t>
            </a:r>
            <a:r>
              <a:rPr lang="en-US" sz="1600" dirty="0" err="1"/>
              <a:t>blockchain</a:t>
            </a:r>
            <a:r>
              <a:rPr lang="en-US" sz="1600" dirty="0" smtClean="0"/>
              <a:t>.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Smart contracts ensure trust and automation.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788F91-200A-C490-FBAE-C45E3E1E1629}"/>
              </a:ext>
            </a:extLst>
          </p:cNvPr>
          <p:cNvSpPr/>
          <p:nvPr/>
        </p:nvSpPr>
        <p:spPr>
          <a:xfrm>
            <a:off x="11340366" y="7776506"/>
            <a:ext cx="3278459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22747"/>
            <a:ext cx="1776413" cy="426244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090732"/>
            <a:ext cx="150423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THE CHALLENGE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53971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Current System</a:t>
            </a:r>
            <a:endParaRPr lang="en-US" sz="35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2945130"/>
            <a:ext cx="4196358" cy="975242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084" y="319456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in fund flow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16962" y="3396343"/>
            <a:ext cx="4196358" cy="74227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74256" y="354889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verifying genuine beneficiaries.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40133" y="3396343"/>
            <a:ext cx="4196358" cy="74227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97427" y="354889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 prone to tampering.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3790" y="5529943"/>
            <a:ext cx="4196358" cy="1056714"/>
          </a:xfrm>
          <a:prstGeom prst="roundRect">
            <a:avLst>
              <a:gd name="adj" fmla="val 139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084" y="586085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/>
              <a:t>No real-time donation tracking.</a:t>
            </a:r>
            <a:endParaRPr lang="en-US" sz="1600" b="1" dirty="0"/>
          </a:p>
        </p:txBody>
      </p:sp>
      <p:sp>
        <p:nvSpPr>
          <p:cNvPr id="17" name="Shape 15"/>
          <p:cNvSpPr/>
          <p:nvPr/>
        </p:nvSpPr>
        <p:spPr>
          <a:xfrm>
            <a:off x="5216962" y="5428264"/>
            <a:ext cx="4196358" cy="1158394"/>
          </a:xfrm>
          <a:prstGeom prst="roundRect">
            <a:avLst>
              <a:gd name="adj" fmla="val 139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74256" y="586085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/>
              <a:t>Low donor trust and engagement.</a:t>
            </a:r>
            <a:endParaRPr lang="en-US" sz="16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026667-4BD6-08BD-ADD1-2C97B10949C7}"/>
              </a:ext>
            </a:extLst>
          </p:cNvPr>
          <p:cNvSpPr/>
          <p:nvPr/>
        </p:nvSpPr>
        <p:spPr>
          <a:xfrm>
            <a:off x="11340366" y="7776506"/>
            <a:ext cx="3278459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19043"/>
            <a:ext cx="1626632" cy="397907"/>
          </a:xfrm>
          <a:prstGeom prst="roundRect">
            <a:avLst>
              <a:gd name="adj" fmla="val 6499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922972" y="983575"/>
            <a:ext cx="1368266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OUR APPROACH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398746"/>
            <a:ext cx="6173152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00"/>
              </a:lnSpc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ChainHeart</a:t>
            </a:r>
            <a:endParaRPr lang="en-US" sz="33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39654" y="3317140"/>
            <a:ext cx="3951504" cy="811649"/>
          </a:xfrm>
          <a:prstGeom prst="roundRect">
            <a:avLst>
              <a:gd name="adj" fmla="val 199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8754" y="3546992"/>
            <a:ext cx="3909717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transparency using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endParaRPr lang="en-US" sz="1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53960" y="5253942"/>
            <a:ext cx="3922891" cy="764443"/>
          </a:xfrm>
          <a:prstGeom prst="roundRect">
            <a:avLst>
              <a:gd name="adj" fmla="val 199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8754" y="5585757"/>
            <a:ext cx="343011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Immutable and tamper-proof records.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39654" y="4359177"/>
            <a:ext cx="3951504" cy="612873"/>
          </a:xfrm>
          <a:prstGeom prst="roundRect">
            <a:avLst>
              <a:gd name="adj" fmla="val 185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0068" y="4539914"/>
            <a:ext cx="592740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transaction tracking.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05279" y="6220897"/>
            <a:ext cx="3985880" cy="713303"/>
          </a:xfrm>
          <a:prstGeom prst="roundRect">
            <a:avLst>
              <a:gd name="adj" fmla="val 25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58754" y="6392347"/>
            <a:ext cx="592728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 prevent misuse of funds.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53960" y="7242775"/>
            <a:ext cx="3922891" cy="663370"/>
          </a:xfrm>
          <a:prstGeom prst="roundRect">
            <a:avLst>
              <a:gd name="adj" fmla="val 25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58635" y="7326927"/>
            <a:ext cx="592740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donor confidence.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9F3401-2CB2-C267-614E-E627161ADECD}"/>
              </a:ext>
            </a:extLst>
          </p:cNvPr>
          <p:cNvSpPr/>
          <p:nvPr/>
        </p:nvSpPr>
        <p:spPr>
          <a:xfrm>
            <a:off x="11340366" y="7776506"/>
            <a:ext cx="3278459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lockchain auxilia a segurança do IoT de diversas formas - Embarcado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885" y="2993913"/>
            <a:ext cx="809625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3"/>
          <p:cNvSpPr/>
          <p:nvPr/>
        </p:nvSpPr>
        <p:spPr>
          <a:xfrm>
            <a:off x="793791" y="3387980"/>
            <a:ext cx="6244709" cy="4023003"/>
          </a:xfrm>
          <a:prstGeom prst="roundRect">
            <a:avLst>
              <a:gd name="adj" fmla="val 186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793790" y="1746290"/>
            <a:ext cx="1664017" cy="426244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814274"/>
            <a:ext cx="139184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Arial" panose="020B0604020202020204" pitchFamily="34" charset="0"/>
              </a:rPr>
              <a:t>MONETIZATION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1" y="2263259"/>
            <a:ext cx="238756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5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084" y="3709986"/>
            <a:ext cx="5730121" cy="953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charity platform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transparent and accountable donations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fraud and corruption.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Provide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tracking of funds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verified beneficiaries.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F2860E-4B55-E83F-E3D7-5AEEBD574190}"/>
              </a:ext>
            </a:extLst>
          </p:cNvPr>
          <p:cNvSpPr/>
          <p:nvPr/>
        </p:nvSpPr>
        <p:spPr>
          <a:xfrm>
            <a:off x="11340366" y="7776506"/>
            <a:ext cx="3278459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How to Develop Blockchain Technology Opportunities | Transmedia Newswir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793" y="2882799"/>
            <a:ext cx="6998825" cy="4528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93790" y="1696283"/>
            <a:ext cx="509265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Timeline / Gantt Chart</a:t>
            </a:r>
            <a:endParaRPr lang="en-US" sz="35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914" y="2263259"/>
            <a:ext cx="10638972" cy="534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41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93790" y="1696283"/>
            <a:ext cx="509265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US" sz="35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3"/>
          <p:cNvSpPr/>
          <p:nvPr/>
        </p:nvSpPr>
        <p:spPr>
          <a:xfrm>
            <a:off x="1039654" y="3317140"/>
            <a:ext cx="3951504" cy="811649"/>
          </a:xfrm>
          <a:prstGeom prst="roundRect">
            <a:avLst>
              <a:gd name="adj" fmla="val 199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6"/>
          <p:cNvSpPr/>
          <p:nvPr/>
        </p:nvSpPr>
        <p:spPr>
          <a:xfrm>
            <a:off x="1053960" y="5253942"/>
            <a:ext cx="3922891" cy="764443"/>
          </a:xfrm>
          <a:prstGeom prst="roundRect">
            <a:avLst>
              <a:gd name="adj" fmla="val 199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Text 8"/>
          <p:cNvSpPr/>
          <p:nvPr/>
        </p:nvSpPr>
        <p:spPr>
          <a:xfrm>
            <a:off x="1458754" y="5469717"/>
            <a:ext cx="343011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data privacy and security.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13"/>
          <p:cNvSpPr/>
          <p:nvPr/>
        </p:nvSpPr>
        <p:spPr>
          <a:xfrm>
            <a:off x="1039654" y="4359177"/>
            <a:ext cx="3951504" cy="612873"/>
          </a:xfrm>
          <a:prstGeom prst="roundRect">
            <a:avLst>
              <a:gd name="adj" fmla="val 185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Shape 16"/>
          <p:cNvSpPr/>
          <p:nvPr/>
        </p:nvSpPr>
        <p:spPr>
          <a:xfrm>
            <a:off x="1005279" y="6220897"/>
            <a:ext cx="3985880" cy="713303"/>
          </a:xfrm>
          <a:prstGeom prst="roundRect">
            <a:avLst>
              <a:gd name="adj" fmla="val 25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458753" y="3657004"/>
            <a:ext cx="343011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458753" y="4511600"/>
            <a:ext cx="343011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payment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gateways.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458754" y="6348453"/>
            <a:ext cx="343011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Coordination with hospitals.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Strategies for Overcoming Adversity and Challenges Ahead : MysteryLo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2764970"/>
            <a:ext cx="7235371" cy="546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85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93790" y="1696283"/>
            <a:ext cx="679718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Enhancements</a:t>
            </a:r>
            <a:endParaRPr lang="en-US" sz="35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3"/>
          <p:cNvSpPr/>
          <p:nvPr/>
        </p:nvSpPr>
        <p:spPr>
          <a:xfrm>
            <a:off x="1039653" y="3317140"/>
            <a:ext cx="5186975" cy="811649"/>
          </a:xfrm>
          <a:prstGeom prst="roundRect">
            <a:avLst>
              <a:gd name="adj" fmla="val 199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6"/>
          <p:cNvSpPr/>
          <p:nvPr/>
        </p:nvSpPr>
        <p:spPr>
          <a:xfrm>
            <a:off x="1053960" y="5253942"/>
            <a:ext cx="3937199" cy="764443"/>
          </a:xfrm>
          <a:prstGeom prst="roundRect">
            <a:avLst>
              <a:gd name="adj" fmla="val 199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6" name="Text 8"/>
          <p:cNvSpPr/>
          <p:nvPr/>
        </p:nvSpPr>
        <p:spPr>
          <a:xfrm>
            <a:off x="1458754" y="5469717"/>
            <a:ext cx="343011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Future: Mobile app development.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13"/>
          <p:cNvSpPr/>
          <p:nvPr/>
        </p:nvSpPr>
        <p:spPr>
          <a:xfrm>
            <a:off x="1039654" y="4359177"/>
            <a:ext cx="5186974" cy="612873"/>
          </a:xfrm>
          <a:prstGeom prst="roundRect">
            <a:avLst>
              <a:gd name="adj" fmla="val 185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16"/>
          <p:cNvSpPr/>
          <p:nvPr/>
        </p:nvSpPr>
        <p:spPr>
          <a:xfrm>
            <a:off x="1005279" y="6220897"/>
            <a:ext cx="3985880" cy="713303"/>
          </a:xfrm>
          <a:prstGeom prst="roundRect">
            <a:avLst>
              <a:gd name="adj" fmla="val 25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Text 8"/>
          <p:cNvSpPr/>
          <p:nvPr/>
        </p:nvSpPr>
        <p:spPr>
          <a:xfrm>
            <a:off x="1458753" y="3657004"/>
            <a:ext cx="476787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ChainHeart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transparency in charity.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58753" y="4511600"/>
            <a:ext cx="343011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trust and accountability.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458754" y="6348453"/>
            <a:ext cx="343011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Future: AI-based fraud detection.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영문법 검사 도구: 글쓰기 완벽하게 개선하는 팁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038" y="2968905"/>
            <a:ext cx="7319476" cy="487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68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6743" y="3780093"/>
            <a:ext cx="9448800" cy="669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7355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213</TotalTime>
  <Words>289</Words>
  <Application>Microsoft Office PowerPoint</Application>
  <PresentationFormat>Custom</PresentationFormat>
  <Paragraphs>60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Inter Medium</vt:lpstr>
      <vt:lpstr>Arial</vt:lpstr>
      <vt:lpstr>Calibri</vt:lpstr>
      <vt:lpstr>Century Gothic</vt:lpstr>
      <vt:lpstr>DM Sans Semi Bold</vt:lpstr>
      <vt:lpstr>Wingdings 3</vt:lpstr>
      <vt:lpstr>Arial Rounded MT Bold</vt:lpstr>
      <vt:lpstr>Times New Roman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SALIV_MAHARJAN</dc:creator>
  <cp:lastModifiedBy>sapun shrestha</cp:lastModifiedBy>
  <cp:revision>16</cp:revision>
  <dcterms:created xsi:type="dcterms:W3CDTF">2026-02-05T13:12:36Z</dcterms:created>
  <dcterms:modified xsi:type="dcterms:W3CDTF">2026-02-09T15:46:34Z</dcterms:modified>
</cp:coreProperties>
</file>